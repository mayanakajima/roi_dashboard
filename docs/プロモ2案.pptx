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97" d="100"/>
          <a:sy n="97" d="100"/>
        </p:scale>
        <p:origin x="72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SQL率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23272E"/>
                    </a:solidFill>
                    <a:latin typeface="Meiryo"/>
                  </a:defRPr>
                </a:pPr>
                <a:endParaRPr lang="ja-JP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100–300名</c:v>
                </c:pt>
                <c:pt idx="1">
                  <c:v>301–500名</c:v>
                </c:pt>
                <c:pt idx="2">
                  <c:v>501–1,000名</c:v>
                </c:pt>
                <c:pt idx="3">
                  <c:v>1,001名以上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5.6</c:v>
                </c:pt>
                <c:pt idx="1">
                  <c:v>35.9</c:v>
                </c:pt>
                <c:pt idx="2">
                  <c:v>60</c:v>
                </c:pt>
                <c:pt idx="3">
                  <c:v>44.7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DE5-466B-BAEF-D2C21454F8D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受注率</c:v>
                </c:pt>
              </c:strCache>
            </c:strRef>
          </c:tx>
          <c:spPr>
            <a:solidFill>
              <a:srgbClr val="C9A227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23272E"/>
                    </a:solidFill>
                    <a:latin typeface="Meiryo"/>
                  </a:defRPr>
                </a:pPr>
                <a:endParaRPr lang="ja-JP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100–300名</c:v>
                </c:pt>
                <c:pt idx="1">
                  <c:v>301–500名</c:v>
                </c:pt>
                <c:pt idx="2">
                  <c:v>501–1,000名</c:v>
                </c:pt>
                <c:pt idx="3">
                  <c:v>1,001名以上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0.4</c:v>
                </c:pt>
                <c:pt idx="1">
                  <c:v>2.6</c:v>
                </c:pt>
                <c:pt idx="2">
                  <c:v>6.7</c:v>
                </c:pt>
                <c:pt idx="3">
                  <c:v>6.4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DE5-466B-BAEF-D2C21454F8D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3272E"/>
                </a:solidFill>
                <a:latin typeface="Meiry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latin typeface="Meiryo"/>
              <a:cs typeface="Meiryo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MQL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23272E"/>
                    </a:solidFill>
                    <a:latin typeface="Meiryo"/>
                  </a:defRPr>
                </a:pPr>
                <a:endParaRPr lang="ja-JP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Other</c:v>
                </c:pt>
                <c:pt idx="1">
                  <c:v>Paid</c:v>
                </c:pt>
                <c:pt idx="2">
                  <c:v>Referral</c:v>
                </c:pt>
                <c:pt idx="3">
                  <c:v>Organic</c:v>
                </c:pt>
                <c:pt idx="4">
                  <c:v>Email</c:v>
                </c:pt>
                <c:pt idx="5">
                  <c:v>Direct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246</c:v>
                </c:pt>
                <c:pt idx="1">
                  <c:v>52</c:v>
                </c:pt>
                <c:pt idx="2">
                  <c:v>39</c:v>
                </c:pt>
                <c:pt idx="3">
                  <c:v>30</c:v>
                </c:pt>
                <c:pt idx="4">
                  <c:v>30</c:v>
                </c:pt>
                <c:pt idx="5">
                  <c:v>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AF0-42F8-95F7-3BA9EB74447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3272E"/>
                </a:solidFill>
                <a:latin typeface="Meiry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432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8412480" y="-2011680"/>
            <a:ext cx="5943600" cy="5943600"/>
          </a:xfrm>
          <a:prstGeom prst="ellipse">
            <a:avLst/>
          </a:prstGeom>
          <a:solidFill>
            <a:srgbClr val="2A3A7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9875520" y="2926080"/>
            <a:ext cx="3840480" cy="3840480"/>
          </a:xfrm>
          <a:prstGeom prst="ellipse">
            <a:avLst/>
          </a:prstGeom>
          <a:solidFill>
            <a:srgbClr val="24317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82296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ONWARD CORPORATE DESIGN｜UN事業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965960"/>
            <a:ext cx="9601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セミオーダー新システム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プロモーション（新規導線）2案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41148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有料導線（広告・LP）／既存サイト活用（GEO・SEO）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5852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0D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社内実績データ（2024/09–2026/06）に基づく提案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149840" y="58521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FB0D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2026.07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BACKGROUND｜背景と目的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新セミオーダーで狙う「質の高い準ターゲット層」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521208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  <a:effectLst>
            <a:outerShdw blurRad="76200" dist="25400" dir="5400000" algn="bl" rotWithShape="0">
              <a:srgbClr val="B8C0D0">
                <a:alpha val="3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1051560" y="22402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新セミオーダー（パターンオーダー）とは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078992" y="2798064"/>
            <a:ext cx="146304" cy="146304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1325880" y="267004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27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複数の型を自由に組み合わせ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25880" y="29443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生地・ポケット位置・ロゴ有無まで選択可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078992" y="3621024"/>
            <a:ext cx="146304" cy="146304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1325880" y="34930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27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意思決定〜着用までが速い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25880" y="37673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サンプルが早く届き、社内合意を加速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078992" y="4443984"/>
            <a:ext cx="146304" cy="146304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1325880" y="431596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27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AIで完成イメージを事前確認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25880" y="45902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オーダー画面でユニフォーム像を可視化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078992" y="5266944"/>
            <a:ext cx="146304" cy="146304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1325880" y="513892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27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リソースを効率運用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25880" y="54132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営業・企画・生産の負荷を抑えて納品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63640" y="2011680"/>
            <a:ext cx="5074920" cy="4114800"/>
          </a:xfrm>
          <a:prstGeom prst="roundRect">
            <a:avLst>
              <a:gd name="adj" fmla="val 1778"/>
            </a:avLst>
          </a:prstGeom>
          <a:solidFill>
            <a:srgbClr val="1E2761"/>
          </a:solidFill>
          <a:ln w="12700">
            <a:solidFill>
              <a:srgbClr val="E5E9F2"/>
            </a:solidFill>
            <a:prstDash val="solid"/>
          </a:ln>
          <a:effectLst>
            <a:outerShdw blurRad="76200" dist="25400" dir="5400000" algn="bl" rotWithShape="0">
              <a:srgbClr val="B8C0D0">
                <a:alpha val="3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6492240" y="2240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プロモーションのターゲット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92240" y="278892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着用 500〜1,000名</a:t>
            </a:r>
            <a:endParaRPr lang="en-US" sz="2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を主力ターゲット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492240" y="38404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C9A2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300名以上</a:t>
            </a:r>
            <a:endParaRPr lang="en-US" sz="1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まで対象（従来は大型案件を優先せざるを得ず、この層は後回しだった）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492240" y="5074920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FB0D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300名未満はセミオーダーでもコスト効率が合わないため対象外。地域は関東＋中部、業種は製造業・建設業を軸。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DATA 1｜着用人数別の引き上がり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規模が大きいほど引き上がる。主戦場は「質は最高・量が少</a:t>
            </a:r>
            <a:r>
              <a:rPr lang="ja-JP" altLang="en-US" sz="3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なめ</a:t>
            </a:r>
            <a:r>
              <a:rPr lang="en-US" sz="3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」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822960" y="1965960"/>
          <a:ext cx="676656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863840" y="1965960"/>
            <a:ext cx="3474720" cy="4114800"/>
          </a:xfrm>
          <a:prstGeom prst="roundRect">
            <a:avLst>
              <a:gd name="adj" fmla="val 2105"/>
            </a:avLst>
          </a:prstGeom>
          <a:solidFill>
            <a:srgbClr val="F5F7FC"/>
          </a:solidFill>
          <a:ln w="12700">
            <a:solidFill>
              <a:srgbClr val="E5E9F2"/>
            </a:solidFill>
            <a:prstDash val="solid"/>
          </a:ln>
          <a:effectLst>
            <a:outerShdw blurRad="76200" dist="25400" dir="5400000" algn="bl" rotWithShape="0">
              <a:srgbClr val="B8C0D0">
                <a:alpha val="3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" name="Text 3"/>
          <p:cNvSpPr/>
          <p:nvPr/>
        </p:nvSpPr>
        <p:spPr>
          <a:xfrm>
            <a:off x="8092440" y="21945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読み取り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119872" y="2697480"/>
            <a:ext cx="146304" cy="146304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Text 5"/>
          <p:cNvSpPr/>
          <p:nvPr/>
        </p:nvSpPr>
        <p:spPr>
          <a:xfrm>
            <a:off x="8366760" y="257860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327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501–1,000名が最良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366760" y="285292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SQL率60%・受注率6.7%と最も引き上がる主戦場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8119872" y="3749040"/>
            <a:ext cx="146304" cy="146304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8"/>
          <p:cNvSpPr/>
          <p:nvPr/>
        </p:nvSpPr>
        <p:spPr>
          <a:xfrm>
            <a:off x="8366760" y="363016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327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だが母数は最少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366760" y="390448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リード数30社（22ヶ月）＝月1.4件。量が足りない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8119872" y="4800600"/>
            <a:ext cx="146304" cy="146304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1"/>
          <p:cNvSpPr/>
          <p:nvPr/>
        </p:nvSpPr>
        <p:spPr>
          <a:xfrm>
            <a:off x="8366760" y="468172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327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300名未満は非効率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8366760" y="495604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流入の64%を占めるが受注率0.4%。対象外とする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822960" y="6309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出典：UN｜着用人数別集計（業種地域分析）／424社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DATA 2｜流入チャネルとファネル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オーガニック7%・資料DL58%＝SEO/GEOと中間転換に伸びしろ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  <a:effectLst>
            <a:outerShdw blurRad="76200" dist="25400" dir="5400000" algn="bl" rotWithShape="0">
              <a:srgbClr val="B8C0D0">
                <a:alpha val="3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960120" y="2084832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57,840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累計セッション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520440" y="192024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  <a:effectLst>
            <a:outerShdw blurRad="76200" dist="25400" dir="5400000" algn="bl" rotWithShape="0">
              <a:srgbClr val="B8C0D0">
                <a:alpha val="3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3657600" y="2084832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424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611880" y="27432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累計MQL（CV率0.73%）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17920" y="192024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  <a:effectLst>
            <a:outerShdw blurRad="76200" dist="25400" dir="5400000" algn="bl" rotWithShape="0">
              <a:srgbClr val="B8C0D0">
                <a:alpha val="3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6355080" y="2084832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9A2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オーガニック流入比率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915400" y="192024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  <a:effectLst>
            <a:outerShdw blurRad="76200" dist="25400" dir="5400000" algn="bl" rotWithShape="0">
              <a:srgbClr val="B8C0D0">
                <a:alpha val="3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9052560" y="2084832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9A2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58%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9006840" y="27432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CVが資料DL（検討初期）</a:t>
            </a:r>
            <a:endParaRPr lang="en-US" sz="1050" dirty="0"/>
          </a:p>
        </p:txBody>
      </p:sp>
      <p:graphicFrame>
        <p:nvGraphicFramePr>
          <p:cNvPr id="16" name="Chart 0"/>
          <p:cNvGraphicFramePr/>
          <p:nvPr/>
        </p:nvGraphicFramePr>
        <p:xfrm>
          <a:off x="822960" y="3657600"/>
          <a:ext cx="630936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Text 14"/>
          <p:cNvSpPr/>
          <p:nvPr/>
        </p:nvSpPr>
        <p:spPr>
          <a:xfrm>
            <a:off x="822960" y="3383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チャネル別MQL構成（累計）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406640" y="3657600"/>
            <a:ext cx="3931920" cy="2651760"/>
          </a:xfrm>
          <a:prstGeom prst="roundRect">
            <a:avLst>
              <a:gd name="adj" fmla="val 2759"/>
            </a:avLst>
          </a:prstGeom>
          <a:solidFill>
            <a:srgbClr val="1E2761"/>
          </a:solidFill>
          <a:ln w="12700">
            <a:solidFill>
              <a:srgbClr val="E5E9F2"/>
            </a:solidFill>
            <a:prstDash val="solid"/>
          </a:ln>
          <a:effectLst>
            <a:outerShdw blurRad="76200" dist="25400" dir="5400000" algn="bl" rotWithShape="0">
              <a:srgbClr val="B8C0D0">
                <a:alpha val="3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6"/>
          <p:cNvSpPr/>
          <p:nvPr/>
        </p:nvSpPr>
        <p:spPr>
          <a:xfrm>
            <a:off x="7635240" y="3840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示唆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7635240" y="4206240"/>
            <a:ext cx="3520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・オーガニックが僅か7%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→ SEO/GEOの余地が最大</a:t>
            </a:r>
            <a:endParaRPr lang="en-US" sz="1200" dirty="0"/>
          </a:p>
          <a:p>
            <a:pPr marL="0" indent="0">
              <a:lnSpc>
                <a:spcPct val="105000"/>
              </a:lnSpc>
              <a:spcBef>
                <a:spcPts val="600"/>
              </a:spcBef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・有料は12%で拡張余地あり</a:t>
            </a:r>
            <a:endParaRPr lang="en-US" sz="1200" dirty="0"/>
          </a:p>
          <a:p>
            <a:pPr marL="0" indent="0">
              <a:lnSpc>
                <a:spcPct val="105000"/>
              </a:lnSpc>
              <a:spcBef>
                <a:spcPts val="600"/>
              </a:spcBef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・CVの58%が資料DL（初期）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→ 相談・問い合わせへの中間転換を設計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2296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出典：ROIダッシュボード（marketing_roi_data）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MESSAGE｜訴求の軸（両案共通）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価格ではなく「らしさ・完成度」×「速さ・確実性」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10515600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 w="12700">
            <a:solidFill>
              <a:srgbClr val="E5E9F2"/>
            </a:solidFill>
            <a:prstDash val="solid"/>
          </a:ln>
          <a:effectLst>
            <a:outerShdw blurRad="76200" dist="25400" dir="5400000" algn="bl" rotWithShape="0">
              <a:srgbClr val="B8C0D0">
                <a:alpha val="3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1097280" y="219456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“らしさ”と完成度はそのままに、意思決定から着用までを速く・確実に。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22960" y="3337560"/>
            <a:ext cx="5212080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  <a:effectLst>
            <a:outerShdw blurRad="76200" dist="25400" dir="5400000" algn="bl" rotWithShape="0">
              <a:srgbClr val="B8C0D0">
                <a:alpha val="3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1051560" y="3520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7A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訴求する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078992" y="3968496"/>
            <a:ext cx="146304" cy="146304"/>
          </a:xfrm>
          <a:prstGeom prst="ellipse">
            <a:avLst/>
          </a:prstGeom>
          <a:solidFill>
            <a:srgbClr val="2C7A4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1325880" y="385876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327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フルスクラッチと同じ提案力・機能性を、より短い納期で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078992" y="4398264"/>
            <a:ext cx="146304" cy="146304"/>
          </a:xfrm>
          <a:prstGeom prst="ellipse">
            <a:avLst/>
          </a:prstGeom>
          <a:solidFill>
            <a:srgbClr val="2C7A4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1325880" y="4288536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327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サンプルが早く届き、社内の意思決定・合意形成が速い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1078992" y="4828032"/>
            <a:ext cx="146304" cy="146304"/>
          </a:xfrm>
          <a:prstGeom prst="ellipse">
            <a:avLst/>
          </a:prstGeom>
          <a:solidFill>
            <a:srgbClr val="2C7A4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1325880" y="4718304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327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AIで完成イメージを事前確認でき、失敗不安を軽減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1078992" y="5257800"/>
            <a:ext cx="146304" cy="146304"/>
          </a:xfrm>
          <a:prstGeom prst="ellipse">
            <a:avLst/>
          </a:prstGeom>
          <a:solidFill>
            <a:srgbClr val="2C7A4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1325880" y="514807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327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型は用意しつつ、生地・ポケット・ロゴで“自社らしさ”を担保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1078992" y="5687568"/>
            <a:ext cx="146304" cy="146304"/>
          </a:xfrm>
          <a:prstGeom prst="ellipse">
            <a:avLst/>
          </a:prstGeom>
          <a:solidFill>
            <a:srgbClr val="2C7A4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1325880" y="557784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327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ブランディング／エンゲージメント／人的資本経営を現実的に実装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126480" y="3337560"/>
            <a:ext cx="5212080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  <a:effectLst>
            <a:outerShdw blurRad="76200" dist="25400" dir="5400000" algn="bl" rotWithShape="0">
              <a:srgbClr val="B8C0D0">
                <a:alpha val="3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6355080" y="3520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23A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訴求しない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355080" y="397764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23A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✕ 「安い」「格安」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629400" y="427024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フルオーダーより抑えられるが、市場内で安いわけではない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55080" y="489204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23A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✕ 「小ロット」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629400" y="518464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主力は500〜1,000名。少量訴求はターゲットとずれる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55080" y="57150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ターゲットは300名以上・主力500〜1,000名。地域は関東＋中部、業種は製造・建設を軸。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PLAN A｜有料導線（広告・LP制作）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案A：専用LP＋検索広告で顕在層を確実に刈り取る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600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狙い：Organic偏重の取りこぼしを、専用LPと検索広告で獲得。特に質の高い500〜1,000名を増やす。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2103120"/>
            <a:ext cx="52120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  <a:effectLst>
            <a:outerShdw blurRad="76200" dist="25400" dir="5400000" algn="bl" rotWithShape="0">
              <a:srgbClr val="B8C0D0">
                <a:alpha val="3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1051560" y="2331720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1051560" y="235915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91640" y="235915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セミオーダー専用LP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2880360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080" dirty="0">
                <a:solidFill>
                  <a:srgbClr val="2327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フルオーダーLPと分離。「速さ・確実性・らしさの両立」を訴求。AI完成イメージのデモ、意思決定〜納品のスピード比較、製造・建設の事例、資料DL＋問い合わせのCTA一本化。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6126480" y="2103120"/>
            <a:ext cx="52120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  <a:effectLst>
            <a:outerShdw blurRad="76200" dist="25400" dir="5400000" algn="bl" rotWithShape="0">
              <a:srgbClr val="B8C0D0">
                <a:alpha val="3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6355080" y="23317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6355080" y="235915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995160" y="235915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検索広告（リスティング中心）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0" y="2880360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080" dirty="0">
                <a:solidFill>
                  <a:srgbClr val="2327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「オリジナルユニフォーム 制作」「ユニフォーム 刷新 企業」「パターンオーダー」「作業服 オリジナル 製造業」等の顕在KWに集中。「小ロット」「格安」系KWは除外。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822960" y="4160520"/>
            <a:ext cx="52120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  <a:effectLst>
            <a:outerShdw blurRad="76200" dist="25400" dir="5400000" algn="bl" rotWithShape="0">
              <a:srgbClr val="B8C0D0">
                <a:alpha val="3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1051560" y="43891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1051560" y="441655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91640" y="441655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リターゲティング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4937760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080" dirty="0">
                <a:solidFill>
                  <a:srgbClr val="2327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既存来訪・資料DL者（CVの58%の母集団）へLP再訴求。CPAが最も低い打ち手。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6126480" y="4160520"/>
            <a:ext cx="52120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  <a:effectLst>
            <a:outerShdw blurRad="76200" dist="25400" dir="5400000" algn="bl" rotWithShape="0">
              <a:srgbClr val="B8C0D0">
                <a:alpha val="3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9"/>
          <p:cNvSpPr/>
          <p:nvPr/>
        </p:nvSpPr>
        <p:spPr>
          <a:xfrm>
            <a:off x="6355080" y="43891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6355080" y="441655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95160" y="441655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入札の重点配分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0" y="4937760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080" dirty="0">
                <a:solidFill>
                  <a:srgbClr val="2327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関東＋中部、製造業・建設業を軸に入札強化。勝ちKWが判明後に配分最適化。</a:t>
            </a:r>
            <a:endParaRPr lang="en-US" sz="1080" dirty="0"/>
          </a:p>
        </p:txBody>
      </p:sp>
      <p:sp>
        <p:nvSpPr>
          <p:cNvPr id="25" name="Text 23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PLAN A｜予算・KPI・スケジュール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案A：予算とKPI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5212080" cy="128016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 w="12700">
            <a:solidFill>
              <a:srgbClr val="E5E9F2"/>
            </a:solidFill>
            <a:prstDash val="solid"/>
          </a:ln>
          <a:effectLst>
            <a:outerShdw blurRad="76200" dist="25400" dir="5400000" algn="bl" rotWithShape="0">
              <a:srgbClr val="B8C0D0">
                <a:alpha val="3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1097280" y="219456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〜120万円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115568" y="27889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セミオーダー専用LP（1ページ・制作）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17920" y="2011680"/>
            <a:ext cx="5212080" cy="128016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 w="12700">
            <a:solidFill>
              <a:srgbClr val="E5E9F2"/>
            </a:solidFill>
            <a:prstDash val="solid"/>
          </a:ln>
          <a:effectLst>
            <a:outerShdw blurRad="76200" dist="25400" dir="5400000" algn="bl" rotWithShape="0">
              <a:srgbClr val="B8C0D0">
                <a:alpha val="3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6492240" y="219456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〜20万円 / 月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510528" y="27889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検索広告＋リターゲティング運用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22960" y="3566160"/>
            <a:ext cx="1051560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  <a:effectLst>
            <a:outerShdw blurRad="76200" dist="25400" dir="5400000" algn="bl" rotWithShape="0">
              <a:srgbClr val="B8C0D0">
                <a:alpha val="3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1051560" y="3749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KPI（ROI実績で基準補正）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4160520"/>
            <a:ext cx="2926080" cy="36576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指標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977640" y="4160520"/>
            <a:ext cx="3200400" cy="36576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基準・目安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178040" y="4160520"/>
            <a:ext cx="4160520" cy="36576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評価の視点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051560" y="4572000"/>
            <a:ext cx="292608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327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MQL単価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977640" y="4572000"/>
            <a:ext cx="320040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327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現状 約8,800円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178040" y="4572000"/>
            <a:ext cx="416052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327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月20万で+20〜30MQLを目安に検証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51560" y="4937760"/>
            <a:ext cx="2926080" cy="365760"/>
          </a:xfrm>
          <a:prstGeom prst="rect">
            <a:avLst/>
          </a:prstGeom>
          <a:solidFill>
            <a:srgbClr val="F5F7FC"/>
          </a:solidFill>
          <a:ln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327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LP CV率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977640" y="4937760"/>
            <a:ext cx="3200400" cy="365760"/>
          </a:xfrm>
          <a:prstGeom prst="rect">
            <a:avLst/>
          </a:prstGeom>
          <a:solidFill>
            <a:srgbClr val="F5F7FC"/>
          </a:solidFill>
          <a:ln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327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2%前後を初期目標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178040" y="4937760"/>
            <a:ext cx="4160520" cy="365760"/>
          </a:xfrm>
          <a:prstGeom prst="rect">
            <a:avLst/>
          </a:prstGeom>
          <a:solidFill>
            <a:srgbClr val="F5F7FC"/>
          </a:solidFill>
          <a:ln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327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資料DL後の相談・問い合わせ転換も測定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51560" y="5303520"/>
            <a:ext cx="292608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327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500〜1,000名比率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977640" y="5303520"/>
            <a:ext cx="320040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327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流入内の構成比を追跡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178040" y="5303520"/>
            <a:ext cx="416052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327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主戦場のリード増を最重要指標に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51560" y="5669280"/>
            <a:ext cx="2926080" cy="365760"/>
          </a:xfrm>
          <a:prstGeom prst="rect">
            <a:avLst/>
          </a:prstGeom>
          <a:solidFill>
            <a:srgbClr val="F5F7FC"/>
          </a:solidFill>
          <a:ln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327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KW別CPA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977640" y="5669280"/>
            <a:ext cx="3200400" cy="365760"/>
          </a:xfrm>
          <a:prstGeom prst="rect">
            <a:avLst/>
          </a:prstGeom>
          <a:solidFill>
            <a:srgbClr val="F5F7FC"/>
          </a:solidFill>
          <a:ln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327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勝ちKWを2ヶ月目に特定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178040" y="5669280"/>
            <a:ext cx="4160520" cy="365760"/>
          </a:xfrm>
          <a:prstGeom prst="rect">
            <a:avLst/>
          </a:prstGeom>
          <a:solidFill>
            <a:srgbClr val="F5F7FC"/>
          </a:solidFill>
          <a:ln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327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効率KWへ配分集中→増額判断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22960" y="6172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スケジュール：LP制作 4〜6週 → 制作後に広告開始（初月テスト）→ 2ヶ月目に配分最適化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PLAN B｜既存サイト活用（GEO・SEO）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案B：既存サイトの資産で「見つかる・選ばれる」を作る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600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狙い：Organic7%という最大の伸びしろを、費用ゼロ〜低コストで資産化。強いコラム基盤とニュース運用に乗せる。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2103120"/>
            <a:ext cx="3291840" cy="1920240"/>
          </a:xfrm>
          <a:prstGeom prst="roundRect">
            <a:avLst>
              <a:gd name="adj" fmla="val 3810"/>
            </a:avLst>
          </a:prstGeom>
          <a:solidFill>
            <a:srgbClr val="F5F7FC"/>
          </a:solidFill>
          <a:ln w="12700">
            <a:solidFill>
              <a:srgbClr val="E5E9F2"/>
            </a:solidFill>
            <a:prstDash val="solid"/>
          </a:ln>
          <a:effectLst>
            <a:outerShdw blurRad="76200" dist="25400" dir="5400000" algn="bl" rotWithShape="0">
              <a:srgbClr val="B8C0D0">
                <a:alpha val="3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1051560" y="2331720"/>
            <a:ext cx="146304" cy="146304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1051560" y="251460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SEO：専用ページ＋新規コラム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051560" y="3127248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80" dirty="0">
                <a:solidFill>
                  <a:srgbClr val="2327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「500〜1,000名規模の刷新の進め方・期間・体制」「パターンオーダーとフルオーダーの違い（速さ・完成度の観点）」「AIで完成イメージを事前確認」等。価格軸ではなく意思決定・納期軸で。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4325112" y="2103120"/>
            <a:ext cx="3291840" cy="1920240"/>
          </a:xfrm>
          <a:prstGeom prst="roundRect">
            <a:avLst>
              <a:gd name="adj" fmla="val 3810"/>
            </a:avLst>
          </a:prstGeom>
          <a:solidFill>
            <a:srgbClr val="F5F7FC"/>
          </a:solidFill>
          <a:ln w="12700">
            <a:solidFill>
              <a:srgbClr val="E5E9F2"/>
            </a:solidFill>
            <a:prstDash val="solid"/>
          </a:ln>
          <a:effectLst>
            <a:outerShdw blurRad="76200" dist="25400" dir="5400000" algn="bl" rotWithShape="0">
              <a:srgbClr val="B8C0D0">
                <a:alpha val="3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4553712" y="2331720"/>
            <a:ext cx="146304" cy="146304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4553712" y="251460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GEO / AEO（AI回答での露出）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53712" y="3127248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80" dirty="0">
                <a:solidFill>
                  <a:srgbClr val="2327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FAQ・比較表・明確な定義文＋Q&amp;A構造化データ。AIに「短納期でオリジナルに近い完成度、意思決定を速く進められる会社」として引用させる。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7836408" y="2103120"/>
            <a:ext cx="3291840" cy="1920240"/>
          </a:xfrm>
          <a:prstGeom prst="roundRect">
            <a:avLst>
              <a:gd name="adj" fmla="val 3810"/>
            </a:avLst>
          </a:prstGeom>
          <a:solidFill>
            <a:srgbClr val="F5F7FC"/>
          </a:solidFill>
          <a:ln w="12700">
            <a:solidFill>
              <a:srgbClr val="E5E9F2"/>
            </a:solidFill>
            <a:prstDash val="solid"/>
          </a:ln>
          <a:effectLst>
            <a:outerShdw blurRad="76200" dist="25400" dir="5400000" algn="bl" rotWithShape="0">
              <a:srgbClr val="B8C0D0">
                <a:alpha val="3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2"/>
          <p:cNvSpPr/>
          <p:nvPr/>
        </p:nvSpPr>
        <p:spPr>
          <a:xfrm>
            <a:off x="8065008" y="2331720"/>
            <a:ext cx="146304" cy="146304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8065008" y="251460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お知らせ・トピックス発信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065008" y="3127248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80" dirty="0">
                <a:solidFill>
                  <a:srgbClr val="2327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新システムのローンチをサービスサイト「お知らせ」＋コーポレート「トピックス」で発信。月次で回る実績・事例公開にセミオーダー事例を積む。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822960" y="4160520"/>
            <a:ext cx="5212080" cy="1920240"/>
          </a:xfrm>
          <a:prstGeom prst="roundRect">
            <a:avLst>
              <a:gd name="adj" fmla="val 3810"/>
            </a:avLst>
          </a:prstGeom>
          <a:solidFill>
            <a:srgbClr val="F5F7FC"/>
          </a:solidFill>
          <a:ln w="12700">
            <a:solidFill>
              <a:srgbClr val="E5E9F2"/>
            </a:solidFill>
            <a:prstDash val="solid"/>
          </a:ln>
          <a:effectLst>
            <a:outerShdw blurRad="76200" dist="25400" dir="5400000" algn="bl" rotWithShape="0">
              <a:srgbClr val="B8C0D0">
                <a:alpha val="3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6"/>
          <p:cNvSpPr/>
          <p:nvPr/>
        </p:nvSpPr>
        <p:spPr>
          <a:xfrm>
            <a:off x="1051560" y="4389120"/>
            <a:ext cx="146304" cy="146304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1051560" y="45720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サイト内バナー・内部リンク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51560" y="498348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327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トップ／業種ページ（office・service・work）／コラム末に専用LPへのバナー。特に製造・建設系記事から誘導。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126480" y="4160520"/>
            <a:ext cx="5212080" cy="1920240"/>
          </a:xfrm>
          <a:prstGeom prst="roundRect">
            <a:avLst>
              <a:gd name="adj" fmla="val 3810"/>
            </a:avLst>
          </a:prstGeom>
          <a:solidFill>
            <a:srgbClr val="F5F7FC"/>
          </a:solidFill>
          <a:ln w="12700">
            <a:solidFill>
              <a:srgbClr val="E5E9F2"/>
            </a:solidFill>
            <a:prstDash val="solid"/>
          </a:ln>
          <a:effectLst>
            <a:outerShdw blurRad="76200" dist="25400" dir="5400000" algn="bl" rotWithShape="0">
              <a:srgbClr val="B8C0D0">
                <a:alpha val="3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2" name="Shape 20"/>
          <p:cNvSpPr/>
          <p:nvPr/>
        </p:nvSpPr>
        <p:spPr>
          <a:xfrm>
            <a:off x="6355080" y="4389120"/>
            <a:ext cx="146304" cy="146304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6355080" y="45720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既存リードのナーチャリング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355080" y="498348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327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資料DL止まり（CVの58%）や、300名以上で未引上の層へ「決定〜納品を速くできる新方式」を再アプローチ。獲得コストほぼゼロで最も効率的。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PLAN B｜KPI・スケジュール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案B：KPIと立ち上がり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521208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  <a:effectLst>
            <a:outerShdw blurRad="76200" dist="25400" dir="5400000" algn="bl" rotWithShape="0">
              <a:srgbClr val="B8C0D0">
                <a:alpha val="3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1051560" y="2194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KPI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78992" y="2743200"/>
            <a:ext cx="146304" cy="146304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1325880" y="262432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327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対象KWの検索順位・流入数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325880" y="291693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狙うKW群のランクとOrganic流入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078992" y="3401568"/>
            <a:ext cx="146304" cy="146304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1325880" y="328269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327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オーガニック比率の改善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325880" y="357530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現状7% → 段階的に引き上げ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078992" y="4059936"/>
            <a:ext cx="146304" cy="146304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1325880" y="394106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327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AI回答での言及有無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325880" y="4233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ChatGPT等での引用・推奨をモニタ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078992" y="4718304"/>
            <a:ext cx="146304" cy="146304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1325880" y="459943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327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専用ページのCV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325880" y="4892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ページ経由の資料DL・問い合わせ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078992" y="5376672"/>
            <a:ext cx="146304" cy="146304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1325880" y="52578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327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既存リード再活性のSQL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325880" y="55504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ナーチャリング経由の引き上がり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63640" y="2011680"/>
            <a:ext cx="5074920" cy="4023360"/>
          </a:xfrm>
          <a:prstGeom prst="roundRect">
            <a:avLst>
              <a:gd name="adj" fmla="val 1818"/>
            </a:avLst>
          </a:prstGeom>
          <a:solidFill>
            <a:srgbClr val="1E2761"/>
          </a:solidFill>
          <a:ln w="12700">
            <a:solidFill>
              <a:srgbClr val="E5E9F2"/>
            </a:solidFill>
            <a:prstDash val="solid"/>
          </a:ln>
          <a:effectLst>
            <a:outerShdw blurRad="76200" dist="25400" dir="5400000" algn="bl" rotWithShape="0">
              <a:srgbClr val="B8C0D0">
                <a:alpha val="3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6492240" y="2194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立ち上がり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92240" y="2743200"/>
            <a:ext cx="1554480" cy="457200"/>
          </a:xfrm>
          <a:prstGeom prst="roundRect">
            <a:avLst>
              <a:gd name="adj" fmla="val 12000"/>
            </a:avLst>
          </a:prstGeom>
          <a:solidFill>
            <a:srgbClr val="C9A22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6492240" y="27432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即日〜順次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183880" y="2724912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お知らせ・トピックス発信、サイト内バナー、既存リードへの再アプローチ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92240" y="3794760"/>
            <a:ext cx="1554480" cy="457200"/>
          </a:xfrm>
          <a:prstGeom prst="roundRect">
            <a:avLst>
              <a:gd name="adj" fmla="val 12000"/>
            </a:avLst>
          </a:prstGeom>
          <a:solidFill>
            <a:srgbClr val="C9A22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5"/>
          <p:cNvSpPr/>
          <p:nvPr/>
        </p:nvSpPr>
        <p:spPr>
          <a:xfrm>
            <a:off x="6492240" y="37947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1〜2ヶ月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183880" y="3776472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専用ページ・比較表・FAQ／構造化データの公開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92240" y="4846320"/>
            <a:ext cx="1554480" cy="457200"/>
          </a:xfrm>
          <a:prstGeom prst="roundRect">
            <a:avLst>
              <a:gd name="adj" fmla="val 12000"/>
            </a:avLst>
          </a:prstGeom>
          <a:solidFill>
            <a:srgbClr val="C9A22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0" name="Text 28"/>
          <p:cNvSpPr/>
          <p:nvPr/>
        </p:nvSpPr>
        <p:spPr>
          <a:xfrm>
            <a:off x="6492240" y="48463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3〜6ヶ月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183880" y="4828032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SEO効果が顕在化（順位・Organic流入の改善）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92240" y="56692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FB0D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費用：ページ・記事制作の社内工数中心。広告費は不要。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COMPARISON｜2案の比較と使い分け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案Bを土台に、案Aで刈り取りを乗せる二段構え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057400"/>
            <a:ext cx="228600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3108960" y="2057400"/>
            <a:ext cx="4206240" cy="50292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3108960" y="20574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案A：有料導線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0" y="2057400"/>
            <a:ext cx="4023360" cy="5029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7315200" y="205740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案B：既存サイト活用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2560320"/>
            <a:ext cx="2286000" cy="566928"/>
          </a:xfrm>
          <a:prstGeom prst="rect">
            <a:avLst/>
          </a:prstGeom>
          <a:solidFill>
            <a:srgbClr val="F5F7FC"/>
          </a:solidFill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主目的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108960" y="2560320"/>
            <a:ext cx="4206240" cy="566928"/>
          </a:xfrm>
          <a:prstGeom prst="rect">
            <a:avLst/>
          </a:prstGeom>
          <a:solidFill>
            <a:srgbClr val="F5F7FC"/>
          </a:solidFill>
          <a:ln/>
        </p:spPr>
        <p:txBody>
          <a:bodyPr wrap="square" lIns="1016" tIns="1016" rIns="1016" bIns="1016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327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短期の顕在層獲得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315200" y="2560320"/>
            <a:ext cx="4023360" cy="566928"/>
          </a:xfrm>
          <a:prstGeom prst="rect">
            <a:avLst/>
          </a:prstGeom>
          <a:solidFill>
            <a:srgbClr val="F5F7FC"/>
          </a:solidFill>
          <a:ln/>
        </p:spPr>
        <p:txBody>
          <a:bodyPr wrap="square" lIns="1016" tIns="1016" rIns="1016" bIns="1016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327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中長期の資産形成・受け皿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22960" y="3127248"/>
            <a:ext cx="2286000" cy="56692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費用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108960" y="3127248"/>
            <a:ext cx="4206240" cy="56692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016" tIns="1016" rIns="1016" bIns="1016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327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LP〜120万＋広告〜20万/月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315200" y="3127248"/>
            <a:ext cx="4023360" cy="56692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016" tIns="1016" rIns="1016" bIns="1016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327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社内工数中心（広告費なし）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22960" y="3694176"/>
            <a:ext cx="2286000" cy="566928"/>
          </a:xfrm>
          <a:prstGeom prst="rect">
            <a:avLst/>
          </a:prstGeom>
          <a:solidFill>
            <a:srgbClr val="F5F7FC"/>
          </a:solidFill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効果の時間軸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108960" y="3694176"/>
            <a:ext cx="4206240" cy="566928"/>
          </a:xfrm>
          <a:prstGeom prst="rect">
            <a:avLst/>
          </a:prstGeom>
          <a:solidFill>
            <a:srgbClr val="F5F7FC"/>
          </a:solidFill>
          <a:ln/>
        </p:spPr>
        <p:txBody>
          <a:bodyPr wrap="square" lIns="1016" tIns="1016" rIns="1016" bIns="1016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327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制作後すぐ〜数週間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315200" y="3694176"/>
            <a:ext cx="4023360" cy="566928"/>
          </a:xfrm>
          <a:prstGeom prst="rect">
            <a:avLst/>
          </a:prstGeom>
          <a:solidFill>
            <a:srgbClr val="F5F7FC"/>
          </a:solidFill>
          <a:ln/>
        </p:spPr>
        <p:txBody>
          <a:bodyPr wrap="square" lIns="1016" tIns="1016" rIns="1016" bIns="1016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327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3〜6ヶ月で顕在化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22960" y="4261104"/>
            <a:ext cx="2286000" cy="56692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主な打ち手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108960" y="4261104"/>
            <a:ext cx="4206240" cy="56692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016" tIns="1016" rIns="1016" bIns="1016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327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専用LP・リスティング・リタゲ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315200" y="4261104"/>
            <a:ext cx="4023360" cy="56692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016" tIns="1016" rIns="1016" bIns="1016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327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SEO/GEO・お知らせ・バナー・ナーチャ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22960" y="4828032"/>
            <a:ext cx="2286000" cy="566928"/>
          </a:xfrm>
          <a:prstGeom prst="rect">
            <a:avLst/>
          </a:prstGeom>
          <a:solidFill>
            <a:srgbClr val="F5F7FC"/>
          </a:solidFill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強み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108960" y="4828032"/>
            <a:ext cx="4206240" cy="566928"/>
          </a:xfrm>
          <a:prstGeom prst="rect">
            <a:avLst/>
          </a:prstGeom>
          <a:solidFill>
            <a:srgbClr val="F5F7FC"/>
          </a:solidFill>
          <a:ln/>
        </p:spPr>
        <p:txBody>
          <a:bodyPr wrap="square" lIns="1016" tIns="1016" rIns="1016" bIns="1016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327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CPAで効果測定しやすい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315200" y="4828032"/>
            <a:ext cx="4023360" cy="566928"/>
          </a:xfrm>
          <a:prstGeom prst="rect">
            <a:avLst/>
          </a:prstGeom>
          <a:solidFill>
            <a:srgbClr val="F5F7FC"/>
          </a:solidFill>
          <a:ln/>
        </p:spPr>
        <p:txBody>
          <a:bodyPr wrap="square" lIns="1016" tIns="1016" rIns="1016" bIns="1016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327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Organic7%の伸びしろを低コストで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22960" y="5577840"/>
            <a:ext cx="10515600" cy="868680"/>
          </a:xfrm>
          <a:prstGeom prst="roundRect">
            <a:avLst>
              <a:gd name="adj" fmla="val 8421"/>
            </a:avLst>
          </a:prstGeom>
          <a:solidFill>
            <a:srgbClr val="1E2761"/>
          </a:solidFill>
          <a:ln w="12700">
            <a:solidFill>
              <a:srgbClr val="E5E9F2"/>
            </a:solidFill>
            <a:prstDash val="solid"/>
          </a:ln>
          <a:effectLst>
            <a:outerShdw blurRad="76200" dist="25400" dir="5400000" algn="bl" rotWithShape="0">
              <a:srgbClr val="B8C0D0">
                <a:alpha val="3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/>
          <p:cNvSpPr/>
          <p:nvPr/>
        </p:nvSpPr>
        <p:spPr>
          <a:xfrm>
            <a:off x="1097280" y="566928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案A広告 → 案BのLP／専用ページに着地 → 既存フォームでCV。案Bで受け皿と事例を整え、勝ち筋が見えたら案Aを集中投下し20万/月の効率を最大化。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NEXT STEPS｜次アクション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0058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次アクション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14400" y="2103120"/>
            <a:ext cx="548640" cy="54864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914400" y="2121408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91640" y="21214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訴求軸・ターゲットの最終確定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91640" y="2505456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メッセージ（速さ・完成度・らしさ）とKW群を承認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14400" y="3063240"/>
            <a:ext cx="548640" cy="54864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914400" y="3081528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691640" y="308152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案B先行スタート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691640" y="3465576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お知らせ・バナー・既存リード再アプローチを即日着手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4400" y="4023360"/>
            <a:ext cx="548640" cy="54864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914400" y="4041648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691640" y="404164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専用LP／専用ページ制作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691640" y="4425696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AI完成イメージのデモを軸に構成・デザイン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14400" y="4983480"/>
            <a:ext cx="548640" cy="54864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914400" y="5001768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691640" y="500176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案A広告のテスト配信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691640" y="5385816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LP完成後に開始、2ヶ月目に配分最適化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494C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出典：UN｜月別集計／UN｜着用人数別集計（業種地域分析）／ROIダッシュボード、サービスサイト・コーポレートサイト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</TotalTime>
  <Words>954</Words>
  <Application>Microsoft Office PowerPoint</Application>
  <PresentationFormat>ワイド画面</PresentationFormat>
  <Paragraphs>193</Paragraphs>
  <Slides>11</Slides>
  <Notes>11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11</vt:i4>
      </vt:variant>
    </vt:vector>
  </HeadingPairs>
  <TitlesOfParts>
    <vt:vector size="14" baseType="lpstr">
      <vt:lpstr>Meiryo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中島 麻耶 (Nakajima, Maya)</cp:lastModifiedBy>
  <cp:revision>2</cp:revision>
  <dcterms:created xsi:type="dcterms:W3CDTF">2026-07-21T05:46:26Z</dcterms:created>
  <dcterms:modified xsi:type="dcterms:W3CDTF">2026-07-21T08:13:16Z</dcterms:modified>
</cp:coreProperties>
</file>